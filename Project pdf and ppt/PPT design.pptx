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BM Plex Sans" charset="1" panose="020B0503050203000203"/>
      <p:regular r:id="rId16"/>
    </p:embeddedFont>
    <p:embeddedFont>
      <p:font typeface="IBM Plex Sans Bold" charset="1" panose="020B0803050203000203"/>
      <p:regular r:id="rId17"/>
    </p:embeddedFont>
    <p:embeddedFont>
      <p:font typeface="Public Sans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790273" y="9044940"/>
            <a:ext cx="462834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9600F2"/>
                </a:solidFill>
                <a:latin typeface="IBM Plex Sans"/>
                <a:ea typeface="IBM Plex Sans"/>
                <a:cs typeface="IBM Plex Sans"/>
                <a:sym typeface="IBM Plex Sans"/>
              </a:rPr>
              <a:t>Powered by Deep Learning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423543" cy="431386"/>
          </a:xfrm>
          <a:custGeom>
            <a:avLst/>
            <a:gdLst/>
            <a:ahLst/>
            <a:cxnLst/>
            <a:rect r="r" b="b" t="t" l="l"/>
            <a:pathLst>
              <a:path h="431386" w="423543">
                <a:moveTo>
                  <a:pt x="0" y="0"/>
                </a:moveTo>
                <a:lnTo>
                  <a:pt x="423543" y="0"/>
                </a:lnTo>
                <a:lnTo>
                  <a:pt x="423543" y="431386"/>
                </a:lnTo>
                <a:lnTo>
                  <a:pt x="0" y="431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83557" y="5322666"/>
            <a:ext cx="11920887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Lung Cancer Detection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83557" y="4339086"/>
            <a:ext cx="11920887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PulmoCareAI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2827211">
            <a:off x="14295600" y="-2005524"/>
            <a:ext cx="7984799" cy="6068448"/>
          </a:xfrm>
          <a:custGeom>
            <a:avLst/>
            <a:gdLst/>
            <a:ahLst/>
            <a:cxnLst/>
            <a:rect r="r" b="b" t="t" l="l"/>
            <a:pathLst>
              <a:path h="6068448" w="7984799">
                <a:moveTo>
                  <a:pt x="0" y="0"/>
                </a:moveTo>
                <a:lnTo>
                  <a:pt x="7984800" y="0"/>
                </a:lnTo>
                <a:lnTo>
                  <a:pt x="7984800" y="6068448"/>
                </a:lnTo>
                <a:lnTo>
                  <a:pt x="0" y="60684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6422757">
            <a:off x="-3518081" y="6224076"/>
            <a:ext cx="7984799" cy="6068448"/>
          </a:xfrm>
          <a:custGeom>
            <a:avLst/>
            <a:gdLst/>
            <a:ahLst/>
            <a:cxnLst/>
            <a:rect r="r" b="b" t="t" l="l"/>
            <a:pathLst>
              <a:path h="6068448" w="7984799">
                <a:moveTo>
                  <a:pt x="0" y="0"/>
                </a:moveTo>
                <a:lnTo>
                  <a:pt x="7984800" y="0"/>
                </a:lnTo>
                <a:lnTo>
                  <a:pt x="7984800" y="6068448"/>
                </a:lnTo>
                <a:lnTo>
                  <a:pt x="0" y="60684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02627" y="1026906"/>
            <a:ext cx="720090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PCAI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98109" y="9044940"/>
            <a:ext cx="232148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9600F2"/>
                </a:solidFill>
                <a:latin typeface="IBM Plex Sans"/>
                <a:ea typeface="IBM Plex Sans"/>
                <a:cs typeface="IBM Plex Sans"/>
                <a:sym typeface="IBM Plex Sans"/>
              </a:rPr>
              <a:t>Nisarg Trivedi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80075" y="5747638"/>
            <a:ext cx="3679225" cy="2947584"/>
            <a:chOff x="0" y="0"/>
            <a:chExt cx="2998041" cy="24018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98040" cy="2401858"/>
            </a:xfrm>
            <a:custGeom>
              <a:avLst/>
              <a:gdLst/>
              <a:ahLst/>
              <a:cxnLst/>
              <a:rect r="r" b="b" t="t" l="l"/>
              <a:pathLst>
                <a:path h="2401858" w="2998040">
                  <a:moveTo>
                    <a:pt x="63127" y="0"/>
                  </a:moveTo>
                  <a:lnTo>
                    <a:pt x="2934914" y="0"/>
                  </a:lnTo>
                  <a:cubicBezTo>
                    <a:pt x="2951656" y="0"/>
                    <a:pt x="2967712" y="6651"/>
                    <a:pt x="2979551" y="18489"/>
                  </a:cubicBezTo>
                  <a:cubicBezTo>
                    <a:pt x="2991390" y="30328"/>
                    <a:pt x="2998040" y="46385"/>
                    <a:pt x="2998040" y="63127"/>
                  </a:cubicBezTo>
                  <a:lnTo>
                    <a:pt x="2998040" y="2338732"/>
                  </a:lnTo>
                  <a:cubicBezTo>
                    <a:pt x="2998040" y="2373596"/>
                    <a:pt x="2969778" y="2401858"/>
                    <a:pt x="2934914" y="2401858"/>
                  </a:cubicBezTo>
                  <a:lnTo>
                    <a:pt x="63127" y="2401858"/>
                  </a:lnTo>
                  <a:cubicBezTo>
                    <a:pt x="46385" y="2401858"/>
                    <a:pt x="30328" y="2395208"/>
                    <a:pt x="18489" y="2383369"/>
                  </a:cubicBezTo>
                  <a:cubicBezTo>
                    <a:pt x="6651" y="2371530"/>
                    <a:pt x="0" y="2355474"/>
                    <a:pt x="0" y="2338732"/>
                  </a:cubicBezTo>
                  <a:lnTo>
                    <a:pt x="0" y="63127"/>
                  </a:lnTo>
                  <a:cubicBezTo>
                    <a:pt x="0" y="28263"/>
                    <a:pt x="28263" y="0"/>
                    <a:pt x="63127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998041" cy="243043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240"/>
                </a:lnSpc>
              </a:pPr>
              <a:r>
                <a:rPr lang="en-US" sz="1600" b="true">
                  <a:solidFill>
                    <a:srgbClr val="9600F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Tip: </a:t>
              </a: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Use links to go to a different page inside your presentation. </a:t>
              </a:r>
            </a:p>
            <a:p>
              <a:pPr algn="l">
                <a:lnSpc>
                  <a:spcPts val="2240"/>
                </a:lnSpc>
              </a:pPr>
            </a:p>
            <a:p>
              <a:pPr algn="l">
                <a:lnSpc>
                  <a:spcPts val="2240"/>
                </a:lnSpc>
              </a:pPr>
              <a:r>
                <a:rPr lang="en-US" sz="1600" b="true">
                  <a:solidFill>
                    <a:srgbClr val="9600F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How: </a:t>
              </a: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Highlight text, click on the link symbol on the toolbar, and select the page in your presentation  you want to connect.</a:t>
              </a:r>
            </a:p>
          </p:txBody>
        </p:sp>
      </p:grpSp>
      <p:sp>
        <p:nvSpPr>
          <p:cNvPr name="AutoShape 5" id="5"/>
          <p:cNvSpPr/>
          <p:nvPr/>
        </p:nvSpPr>
        <p:spPr>
          <a:xfrm rot="0">
            <a:off x="0" y="10104444"/>
            <a:ext cx="18288000" cy="182556"/>
          </a:xfrm>
          <a:prstGeom prst="rect">
            <a:avLst/>
          </a:prstGeom>
          <a:solidFill>
            <a:srgbClr val="9600F2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028700" y="2567624"/>
            <a:ext cx="7060665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 Statement &amp; Medical Challange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961247"/>
            <a:ext cx="5833968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Technical Architecture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737100"/>
            <a:ext cx="609222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Model Architecture (ResNet50)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530150"/>
            <a:ext cx="54465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Complete System Workflow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124000"/>
            <a:ext cx="7060665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Performance Metrics &amp; Medical Impact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327075"/>
            <a:ext cx="54465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Security &amp; Database Design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898065"/>
            <a:ext cx="6242867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Future Enhancement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43072" y="1009609"/>
            <a:ext cx="6016228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 u="non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Agenda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28700" y="1127332"/>
            <a:ext cx="423543" cy="431386"/>
          </a:xfrm>
          <a:custGeom>
            <a:avLst/>
            <a:gdLst/>
            <a:ahLst/>
            <a:cxnLst/>
            <a:rect r="r" b="b" t="t" l="l"/>
            <a:pathLst>
              <a:path h="431386" w="423543">
                <a:moveTo>
                  <a:pt x="0" y="0"/>
                </a:moveTo>
                <a:lnTo>
                  <a:pt x="423543" y="0"/>
                </a:lnTo>
                <a:lnTo>
                  <a:pt x="423543" y="431386"/>
                </a:lnTo>
                <a:lnTo>
                  <a:pt x="0" y="431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24148" y="1125538"/>
            <a:ext cx="720090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PCAI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3264436"/>
            <a:ext cx="3563064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Technologies used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57953" y="-3715579"/>
            <a:ext cx="11277931" cy="8222637"/>
          </a:xfrm>
          <a:custGeom>
            <a:avLst/>
            <a:gdLst/>
            <a:ahLst/>
            <a:cxnLst/>
            <a:rect r="r" b="b" t="t" l="l"/>
            <a:pathLst>
              <a:path h="8222637" w="11277931">
                <a:moveTo>
                  <a:pt x="0" y="0"/>
                </a:moveTo>
                <a:lnTo>
                  <a:pt x="11277931" y="0"/>
                </a:lnTo>
                <a:lnTo>
                  <a:pt x="11277931" y="8222637"/>
                </a:lnTo>
                <a:lnTo>
                  <a:pt x="0" y="82226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9505" y="1125544"/>
            <a:ext cx="434711" cy="434711"/>
          </a:xfrm>
          <a:custGeom>
            <a:avLst/>
            <a:gdLst/>
            <a:ahLst/>
            <a:cxnLst/>
            <a:rect r="r" b="b" t="t" l="l"/>
            <a:pathLst>
              <a:path h="434711" w="434711">
                <a:moveTo>
                  <a:pt x="0" y="0"/>
                </a:moveTo>
                <a:lnTo>
                  <a:pt x="434711" y="0"/>
                </a:lnTo>
                <a:lnTo>
                  <a:pt x="434711" y="434711"/>
                </a:lnTo>
                <a:lnTo>
                  <a:pt x="0" y="4347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4640" y="2237198"/>
            <a:ext cx="339152" cy="315836"/>
          </a:xfrm>
          <a:custGeom>
            <a:avLst/>
            <a:gdLst/>
            <a:ahLst/>
            <a:cxnLst/>
            <a:rect r="r" b="b" t="t" l="l"/>
            <a:pathLst>
              <a:path h="315836" w="339152">
                <a:moveTo>
                  <a:pt x="0" y="0"/>
                </a:moveTo>
                <a:lnTo>
                  <a:pt x="339152" y="0"/>
                </a:lnTo>
                <a:lnTo>
                  <a:pt x="339152" y="315836"/>
                </a:lnTo>
                <a:lnTo>
                  <a:pt x="0" y="3158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54103" y="1055430"/>
            <a:ext cx="8130552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  <a:spcBef>
                <a:spcPct val="0"/>
              </a:spcBef>
            </a:pPr>
            <a:r>
              <a:rPr lang="en-US" sz="3300" u="sng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Problem Stat</a:t>
            </a:r>
            <a:r>
              <a:rPr lang="en-US" sz="3300" u="sng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ement &amp; Medical Challenge</a:t>
            </a:r>
          </a:p>
          <a:p>
            <a:pPr algn="l" marL="0" indent="0" lvl="0">
              <a:lnSpc>
                <a:spcPts val="396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983792" y="2155086"/>
            <a:ext cx="5772984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CURRENT MEDICAL CHALLENGES: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54103" y="2731823"/>
            <a:ext cx="10538579" cy="2194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• Lung cancer: Leading cause of cancer deaths worldwide</a:t>
            </a:r>
          </a:p>
          <a:p>
            <a:pPr algn="l">
              <a:lnSpc>
                <a:spcPts val="351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• Early detection critical: 70% vs 15% survival rate difference</a:t>
            </a:r>
          </a:p>
          <a:p>
            <a:pPr algn="l">
              <a:lnSpc>
                <a:spcPts val="351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• Traditional diagnosis: Time-consuming, expensive, limited access</a:t>
            </a:r>
          </a:p>
          <a:p>
            <a:pPr algn="l">
              <a:lnSpc>
                <a:spcPts val="351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• Radiologist shortage: High workload, human error potential</a:t>
            </a:r>
          </a:p>
          <a:p>
            <a:pPr algn="l">
              <a:lnSpc>
                <a:spcPts val="351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• Late-stage diagnosis: Poor treatment outcomes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4950" y="5602651"/>
            <a:ext cx="2765941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✅ AI SOLUTION: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54103" y="6147158"/>
            <a:ext cx="7083028" cy="2194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• Rapid CT scan analysis in &lt;4 seconds</a:t>
            </a:r>
          </a:p>
          <a:p>
            <a:pPr algn="l">
              <a:lnSpc>
                <a:spcPts val="351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• 86.9% validation accuracy</a:t>
            </a:r>
          </a:p>
          <a:p>
            <a:pPr algn="l">
              <a:lnSpc>
                <a:spcPts val="351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• Explainable AI with Grad-CAM visualization</a:t>
            </a:r>
          </a:p>
          <a:p>
            <a:pPr algn="l">
              <a:lnSpc>
                <a:spcPts val="351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• HIPAA-compliant medical system</a:t>
            </a:r>
          </a:p>
          <a:p>
            <a:pPr algn="l">
              <a:lnSpc>
                <a:spcPts val="351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• 24/7 availability for emergency cases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3133185"/>
            <a:ext cx="5029200" cy="5269401"/>
          </a:xfrm>
          <a:prstGeom prst="rect">
            <a:avLst/>
          </a:prstGeom>
          <a:solidFill>
            <a:srgbClr val="F4F4F4"/>
          </a:solidFill>
        </p:spPr>
      </p:sp>
      <p:sp>
        <p:nvSpPr>
          <p:cNvPr name="Freeform 3" id="3"/>
          <p:cNvSpPr/>
          <p:nvPr/>
        </p:nvSpPr>
        <p:spPr>
          <a:xfrm flipH="false" flipV="false" rot="2424083">
            <a:off x="-3396491" y="7879785"/>
            <a:ext cx="7875446" cy="5741916"/>
          </a:xfrm>
          <a:custGeom>
            <a:avLst/>
            <a:gdLst/>
            <a:ahLst/>
            <a:cxnLst/>
            <a:rect r="r" b="b" t="t" l="l"/>
            <a:pathLst>
              <a:path h="5741916" w="7875446">
                <a:moveTo>
                  <a:pt x="0" y="0"/>
                </a:moveTo>
                <a:lnTo>
                  <a:pt x="7875446" y="0"/>
                </a:lnTo>
                <a:lnTo>
                  <a:pt x="7875446" y="5741917"/>
                </a:lnTo>
                <a:lnTo>
                  <a:pt x="0" y="5741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6629400" y="3133185"/>
            <a:ext cx="5029200" cy="5269401"/>
          </a:xfrm>
          <a:prstGeom prst="rect">
            <a:avLst/>
          </a:prstGeom>
          <a:solidFill>
            <a:srgbClr val="F4F4F4"/>
          </a:solidFill>
        </p:spPr>
      </p:sp>
      <p:grpSp>
        <p:nvGrpSpPr>
          <p:cNvPr name="Group 5" id="5"/>
          <p:cNvGrpSpPr/>
          <p:nvPr/>
        </p:nvGrpSpPr>
        <p:grpSpPr>
          <a:xfrm rot="0">
            <a:off x="7318675" y="3779829"/>
            <a:ext cx="1082132" cy="1082132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9600F2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82824" y="3779829"/>
            <a:ext cx="1082132" cy="1082132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9600F2"/>
            </a:solidFill>
          </p:spPr>
        </p:sp>
      </p:grpSp>
      <p:sp>
        <p:nvSpPr>
          <p:cNvPr name="AutoShape 9" id="9"/>
          <p:cNvSpPr/>
          <p:nvPr/>
        </p:nvSpPr>
        <p:spPr>
          <a:xfrm rot="0">
            <a:off x="12230100" y="3133185"/>
            <a:ext cx="5029200" cy="5269401"/>
          </a:xfrm>
          <a:prstGeom prst="rect">
            <a:avLst/>
          </a:prstGeom>
          <a:solidFill>
            <a:srgbClr val="F4F4F4"/>
          </a:solidFill>
        </p:spPr>
      </p:sp>
      <p:grpSp>
        <p:nvGrpSpPr>
          <p:cNvPr name="Group 10" id="10"/>
          <p:cNvGrpSpPr/>
          <p:nvPr/>
        </p:nvGrpSpPr>
        <p:grpSpPr>
          <a:xfrm rot="0">
            <a:off x="12954526" y="3779829"/>
            <a:ext cx="1082132" cy="1082132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9600F2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858141" y="3982411"/>
            <a:ext cx="731498" cy="676968"/>
          </a:xfrm>
          <a:custGeom>
            <a:avLst/>
            <a:gdLst/>
            <a:ahLst/>
            <a:cxnLst/>
            <a:rect r="r" b="b" t="t" l="l"/>
            <a:pathLst>
              <a:path h="676968" w="731498">
                <a:moveTo>
                  <a:pt x="0" y="0"/>
                </a:moveTo>
                <a:lnTo>
                  <a:pt x="731498" y="0"/>
                </a:lnTo>
                <a:lnTo>
                  <a:pt x="731498" y="676968"/>
                </a:lnTo>
                <a:lnTo>
                  <a:pt x="0" y="6769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470820" y="3931974"/>
            <a:ext cx="777842" cy="777842"/>
          </a:xfrm>
          <a:custGeom>
            <a:avLst/>
            <a:gdLst/>
            <a:ahLst/>
            <a:cxnLst/>
            <a:rect r="r" b="b" t="t" l="l"/>
            <a:pathLst>
              <a:path h="777842" w="777842">
                <a:moveTo>
                  <a:pt x="0" y="0"/>
                </a:moveTo>
                <a:lnTo>
                  <a:pt x="777842" y="0"/>
                </a:lnTo>
                <a:lnTo>
                  <a:pt x="777842" y="777842"/>
                </a:lnTo>
                <a:lnTo>
                  <a:pt x="0" y="7778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082556" y="3931974"/>
            <a:ext cx="826070" cy="826070"/>
          </a:xfrm>
          <a:custGeom>
            <a:avLst/>
            <a:gdLst/>
            <a:ahLst/>
            <a:cxnLst/>
            <a:rect r="r" b="b" t="t" l="l"/>
            <a:pathLst>
              <a:path h="826070" w="826070">
                <a:moveTo>
                  <a:pt x="0" y="0"/>
                </a:moveTo>
                <a:lnTo>
                  <a:pt x="826071" y="0"/>
                </a:lnTo>
                <a:lnTo>
                  <a:pt x="826071" y="826070"/>
                </a:lnTo>
                <a:lnTo>
                  <a:pt x="0" y="8260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57170" y="5114925"/>
            <a:ext cx="3959131" cy="90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800" b="tru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Fronten</a:t>
            </a:r>
            <a:r>
              <a:rPr lang="en-US" b="true" sz="2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629400" y="1009609"/>
            <a:ext cx="106299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Technology Used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9289" y="5132705"/>
            <a:ext cx="3707825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800" b="tru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Backend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19289" y="5697676"/>
            <a:ext cx="2124711" cy="843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80"/>
              </a:lnSpc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</a:t>
            </a: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ython Flask</a:t>
            </a:r>
          </a:p>
          <a:p>
            <a:pPr algn="l">
              <a:lnSpc>
                <a:spcPts val="338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2620625" y="5132705"/>
            <a:ext cx="3707825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800" b="tru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AI-ML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20625" y="5675134"/>
            <a:ext cx="2637754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50"/>
              </a:lnSpc>
            </a:pPr>
            <a:r>
              <a:rPr lang="en-US" sz="2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</a:t>
            </a:r>
            <a:r>
              <a:rPr lang="en-US" sz="2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ensorFlow/Keras</a:t>
            </a:r>
          </a:p>
          <a:p>
            <a:pPr algn="l">
              <a:lnSpc>
                <a:spcPts val="325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557170" y="5684961"/>
            <a:ext cx="1195190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React.js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57170" y="6274256"/>
            <a:ext cx="1942650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Tailwind CSS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57170" y="6860361"/>
            <a:ext cx="2339283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Chart.js &amp; D3.js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57170" y="7446466"/>
            <a:ext cx="2287671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Framer Motion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019289" y="6274256"/>
            <a:ext cx="2950207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SQLAlchemy ORM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19289" y="6860361"/>
            <a:ext cx="2995899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JWT Authentication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019289" y="7446466"/>
            <a:ext cx="3216546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PostgreSQL Database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620625" y="6274256"/>
            <a:ext cx="3425733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ResNet50 Architecture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620625" y="6860361"/>
            <a:ext cx="3502823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Grad-CAM Visualization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620625" y="7446466"/>
            <a:ext cx="2916941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Focal Loss Function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3132072" y="5954663"/>
            <a:ext cx="16260828" cy="10022583"/>
          </a:xfrm>
          <a:custGeom>
            <a:avLst/>
            <a:gdLst/>
            <a:ahLst/>
            <a:cxnLst/>
            <a:rect r="r" b="b" t="t" l="l"/>
            <a:pathLst>
              <a:path h="10022583" w="16260828">
                <a:moveTo>
                  <a:pt x="16260828" y="0"/>
                </a:moveTo>
                <a:lnTo>
                  <a:pt x="0" y="0"/>
                </a:lnTo>
                <a:lnTo>
                  <a:pt x="0" y="10022583"/>
                </a:lnTo>
                <a:lnTo>
                  <a:pt x="16260828" y="10022583"/>
                </a:lnTo>
                <a:lnTo>
                  <a:pt x="162608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34724" y="139115"/>
            <a:ext cx="9818552" cy="10008769"/>
          </a:xfrm>
          <a:custGeom>
            <a:avLst/>
            <a:gdLst/>
            <a:ahLst/>
            <a:cxnLst/>
            <a:rect r="r" b="b" t="t" l="l"/>
            <a:pathLst>
              <a:path h="10008769" w="9818552">
                <a:moveTo>
                  <a:pt x="0" y="0"/>
                </a:moveTo>
                <a:lnTo>
                  <a:pt x="9818552" y="0"/>
                </a:lnTo>
                <a:lnTo>
                  <a:pt x="9818552" y="10008770"/>
                </a:lnTo>
                <a:lnTo>
                  <a:pt x="0" y="100087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28700"/>
            <a:ext cx="4009245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</a:t>
            </a:r>
            <a:r>
              <a:rPr lang="en-US" sz="300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echnical Architect</a:t>
            </a:r>
            <a:r>
              <a:rPr lang="en-US" sz="300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</a:t>
            </a:r>
            <a:r>
              <a:rPr lang="en-US" sz="300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   Ove</a:t>
            </a:r>
            <a:r>
              <a:rPr lang="en-US" sz="300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</a:t>
            </a:r>
            <a:r>
              <a:rPr lang="en-US" sz="300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view</a:t>
            </a:r>
          </a:p>
          <a:p>
            <a:pPr algn="just" marL="0" indent="0" lvl="0">
              <a:lnSpc>
                <a:spcPts val="360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143125"/>
            <a:ext cx="279130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Activity Diagram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962901" cy="10287000"/>
          </a:xfrm>
          <a:prstGeom prst="rect">
            <a:avLst/>
          </a:prstGeom>
          <a:solidFill>
            <a:srgbClr val="F4F4F4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59430" y="2518388"/>
            <a:ext cx="6990820" cy="5362821"/>
          </a:xfrm>
          <a:custGeom>
            <a:avLst/>
            <a:gdLst/>
            <a:ahLst/>
            <a:cxnLst/>
            <a:rect r="r" b="b" t="t" l="l"/>
            <a:pathLst>
              <a:path h="5362821" w="6990820">
                <a:moveTo>
                  <a:pt x="0" y="0"/>
                </a:moveTo>
                <a:lnTo>
                  <a:pt x="6990820" y="0"/>
                </a:lnTo>
                <a:lnTo>
                  <a:pt x="6990820" y="5362821"/>
                </a:lnTo>
                <a:lnTo>
                  <a:pt x="0" y="5362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9430" y="838396"/>
            <a:ext cx="7756659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Mod</a:t>
            </a:r>
            <a:r>
              <a:rPr lang="en-US" sz="300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Architect</a:t>
            </a:r>
            <a:r>
              <a:rPr lang="en-US" sz="300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ur</a:t>
            </a:r>
            <a:r>
              <a:rPr lang="en-US" sz="300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 (ResNet50)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8317468" y="1646751"/>
            <a:ext cx="684798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50-layer deep residual neural network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35934" y="771525"/>
            <a:ext cx="535714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Model A</a:t>
            </a:r>
            <a:r>
              <a:rPr lang="en-US" sz="3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rchitecture: ResNet50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16089" y="2220791"/>
            <a:ext cx="7938748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Sk</a:t>
            </a:r>
            <a:r>
              <a:rPr lang="en-US" sz="2799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ip connections prevent vanishing gradients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16089" y="2775563"/>
            <a:ext cx="7664595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</a:t>
            </a:r>
            <a:r>
              <a:rPr lang="en-US" sz="2799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re-trained on ImageNet (transfer learning)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17468" y="3352683"/>
            <a:ext cx="5854898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</a:t>
            </a:r>
            <a:r>
              <a:rPr lang="en-US" sz="27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ine-tuned on 999 lung CT scans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16089" y="5802414"/>
            <a:ext cx="6681192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Input S</a:t>
            </a:r>
            <a:r>
              <a:rPr lang="en-US" sz="27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ize: 224×224×3 pixel CT scans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16089" y="5171224"/>
            <a:ext cx="8857893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Loss Function: Focal Loss (handles class imbalance)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35934" y="4504474"/>
            <a:ext cx="275463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Training Details: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17468" y="6433604"/>
            <a:ext cx="3745111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Training Epochs: 20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16089" y="7064794"/>
            <a:ext cx="4995267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Validation Accuracy: 86.9%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16089" y="7695984"/>
            <a:ext cx="4411385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ROC AUC Score: 0.9956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12696" y="8327174"/>
            <a:ext cx="6687979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Processing Time: &lt;4 seconds per scan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26302" y="1028700"/>
            <a:ext cx="4517698" cy="9086850"/>
          </a:xfrm>
          <a:custGeom>
            <a:avLst/>
            <a:gdLst/>
            <a:ahLst/>
            <a:cxnLst/>
            <a:rect r="r" b="b" t="t" l="l"/>
            <a:pathLst>
              <a:path h="9086850" w="4517698">
                <a:moveTo>
                  <a:pt x="0" y="0"/>
                </a:moveTo>
                <a:lnTo>
                  <a:pt x="4517698" y="0"/>
                </a:lnTo>
                <a:lnTo>
                  <a:pt x="4517698" y="9086850"/>
                </a:lnTo>
                <a:lnTo>
                  <a:pt x="0" y="9086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487351" y="1028700"/>
            <a:ext cx="6771949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 u="non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Complete System Workflow</a:t>
            </a:r>
          </a:p>
          <a:p>
            <a:pPr algn="r" marL="0" indent="0" lvl="0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35391" y="-1482478"/>
            <a:ext cx="13770229" cy="10740778"/>
          </a:xfrm>
          <a:custGeom>
            <a:avLst/>
            <a:gdLst/>
            <a:ahLst/>
            <a:cxnLst/>
            <a:rect r="r" b="b" t="t" l="l"/>
            <a:pathLst>
              <a:path h="10740778" w="13770229">
                <a:moveTo>
                  <a:pt x="0" y="0"/>
                </a:moveTo>
                <a:lnTo>
                  <a:pt x="13770229" y="0"/>
                </a:lnTo>
                <a:lnTo>
                  <a:pt x="13770229" y="10740778"/>
                </a:lnTo>
                <a:lnTo>
                  <a:pt x="0" y="10740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3390971" y="2828925"/>
          <a:ext cx="12834489" cy="5984693"/>
        </p:xfrm>
        <a:graphic>
          <a:graphicData uri="http://schemas.openxmlformats.org/drawingml/2006/table">
            <a:tbl>
              <a:tblPr/>
              <a:tblGrid>
                <a:gridCol w="6417245"/>
                <a:gridCol w="6417245"/>
              </a:tblGrid>
              <a:tr h="3091020">
                <a:tc gridSpan="2"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Authentication &amp; Security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JWT tokens (8-hour expiry)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Bcrypt password hashing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Role-based access control (doctors)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HIPAA-compliant data handling</a:t>
                      </a:r>
                    </a:p>
                    <a:p>
                      <a:pPr algn="ctr">
                        <a:lnSpc>
                          <a:spcPts val="307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Authentication &amp; Security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JWT tokens (8-hour expiry)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Bcrypt password hashing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Role-based access control (doctors)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HIPAA-compliant data handling</a:t>
                      </a:r>
                    </a:p>
                    <a:p>
                      <a:pPr algn="ctr">
                        <a:lnSpc>
                          <a:spcPts val="307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3673">
                <a:tc gridSpan="2"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Database Schema (PostgreSQL)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 </a:t>
                      </a:r>
                      <a:r>
                        <a:rPr lang="en-US" sz="2499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Doctors: Medical staff credentials &amp; profiles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Patients: Demographic &amp; medical information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Predictions: AI results + Grad-CAM data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Relationships: One-to-many (Patient → Predictions)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Database Schema (PostgreSQL)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 </a:t>
                      </a:r>
                      <a:r>
                        <a:rPr lang="en-US" sz="2499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Doctors: Medical staff credentials &amp; profiles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Patients: Demographic &amp; medical information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Predictions: AI results + Grad-CAM data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Relationships: One-to-many (Patient → Predictions)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28700" y="1028700"/>
            <a:ext cx="4724542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Secu</a:t>
            </a:r>
            <a:r>
              <a:rPr lang="en-US" sz="3999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rity &amp; Databa</a:t>
            </a:r>
            <a:r>
              <a:rPr lang="en-US" sz="3999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se </a:t>
            </a:r>
            <a:r>
              <a:rPr lang="en-US" sz="3999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</a:t>
            </a:r>
            <a:r>
              <a:rPr lang="en-US" sz="3999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</a:t>
            </a:r>
            <a:r>
              <a:rPr lang="en-US" sz="3999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g</a:t>
            </a:r>
            <a:r>
              <a:rPr lang="en-US" sz="3999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</a:t>
            </a:r>
          </a:p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855796" y="1176337"/>
            <a:ext cx="268977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46009">
            <a:off x="-3777897" y="-3377064"/>
            <a:ext cx="9979854" cy="7584689"/>
          </a:xfrm>
          <a:custGeom>
            <a:avLst/>
            <a:gdLst/>
            <a:ahLst/>
            <a:cxnLst/>
            <a:rect r="r" b="b" t="t" l="l"/>
            <a:pathLst>
              <a:path h="7584689" w="9979854">
                <a:moveTo>
                  <a:pt x="0" y="0"/>
                </a:moveTo>
                <a:lnTo>
                  <a:pt x="9979853" y="0"/>
                </a:lnTo>
                <a:lnTo>
                  <a:pt x="9979853" y="7584689"/>
                </a:lnTo>
                <a:lnTo>
                  <a:pt x="0" y="7584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458075"/>
            <a:ext cx="5381276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</a:t>
            </a:r>
            <a:r>
              <a:rPr lang="en-US" sz="3999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erformance Metrics &amp; Clinical Imp</a:t>
            </a:r>
            <a:r>
              <a:rPr lang="en-US" sz="3999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3999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ct</a:t>
            </a:r>
          </a:p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</a:p>
        </p:txBody>
      </p:sp>
      <p:sp>
        <p:nvSpPr>
          <p:cNvPr name="AutoShape 4" id="4"/>
          <p:cNvSpPr/>
          <p:nvPr/>
        </p:nvSpPr>
        <p:spPr>
          <a:xfrm rot="0">
            <a:off x="9144000" y="0"/>
            <a:ext cx="9144000" cy="10287000"/>
          </a:xfrm>
          <a:prstGeom prst="rect">
            <a:avLst/>
          </a:prstGeom>
          <a:solidFill>
            <a:srgbClr val="F4F4F4"/>
          </a:solidFill>
        </p:spPr>
      </p:sp>
      <p:grpSp>
        <p:nvGrpSpPr>
          <p:cNvPr name="Group 5" id="5"/>
          <p:cNvGrpSpPr/>
          <p:nvPr/>
        </p:nvGrpSpPr>
        <p:grpSpPr>
          <a:xfrm rot="0">
            <a:off x="10225770" y="1028750"/>
            <a:ext cx="7215732" cy="7155348"/>
            <a:chOff x="0" y="0"/>
            <a:chExt cx="9620976" cy="954046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4" y="-28575"/>
              <a:ext cx="9620967" cy="590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b="true" sz="2800">
                  <a:solidFill>
                    <a:srgbClr val="9600F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System Perf</a:t>
              </a:r>
              <a:r>
                <a:rPr lang="en-US" b="true" sz="2800">
                  <a:solidFill>
                    <a:srgbClr val="9600F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ormance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" y="1080184"/>
              <a:ext cx="9620967" cy="2716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51" indent="-269876" lvl="1">
                <a:lnSpc>
                  <a:spcPts val="325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Processing Speed: &lt;4 seconds per CT scan</a:t>
              </a:r>
            </a:p>
            <a:p>
              <a:pPr algn="l" marL="539751" indent="-269876" lvl="1">
                <a:lnSpc>
                  <a:spcPts val="325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Model Accuracy: 86.9% validation accuracy</a:t>
              </a:r>
            </a:p>
            <a:p>
              <a:pPr algn="l" marL="539751" indent="-269876" lvl="1">
                <a:lnSpc>
                  <a:spcPts val="325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Database Response: &lt;100ms query times</a:t>
              </a:r>
            </a:p>
            <a:p>
              <a:pPr algn="l" marL="539751" indent="-269876" lvl="1">
                <a:lnSpc>
                  <a:spcPts val="325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Uptime: 99.9% availability</a:t>
              </a:r>
            </a:p>
            <a:p>
              <a:pPr algn="l" marL="539751" indent="-269876" lvl="1">
                <a:lnSpc>
                  <a:spcPts val="325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Scalability: Horizontal scaling ready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" y="5714963"/>
              <a:ext cx="9620967" cy="590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b="true" sz="2800">
                  <a:solidFill>
                    <a:srgbClr val="9600F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Clinical Impa</a:t>
              </a:r>
              <a:r>
                <a:rPr lang="en-US" b="true" sz="2800">
                  <a:solidFill>
                    <a:srgbClr val="9600F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" y="6823722"/>
              <a:ext cx="9620967" cy="2716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51" indent="-269876" lvl="1">
                <a:lnSpc>
                  <a:spcPts val="325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90% fa</a:t>
              </a: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ster diagnosis than traditional methods</a:t>
              </a:r>
            </a:p>
            <a:p>
              <a:pPr algn="l" marL="539751" indent="-269876" lvl="1">
                <a:lnSpc>
                  <a:spcPts val="325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Early detection improves survival rates</a:t>
              </a:r>
            </a:p>
            <a:p>
              <a:pPr algn="l" marL="539751" indent="-269876" lvl="1">
                <a:lnSpc>
                  <a:spcPts val="325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Reduces diagnostic workload</a:t>
              </a:r>
            </a:p>
            <a:p>
              <a:pPr algn="l" marL="539751" indent="-269876" lvl="1">
                <a:lnSpc>
                  <a:spcPts val="325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24/7 availability for emergency cases</a:t>
              </a:r>
            </a:p>
            <a:p>
              <a:pPr algn="l" marL="539751" indent="-269876" lvl="1">
                <a:lnSpc>
                  <a:spcPts val="325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Comprehensive patient monitoring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4" y="4761679"/>
              <a:ext cx="9620967" cy="635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8531153" y="1028700"/>
            <a:ext cx="8728147" cy="2336888"/>
          </a:xfrm>
          <a:prstGeom prst="rect">
            <a:avLst/>
          </a:prstGeom>
          <a:solidFill>
            <a:srgbClr val="F4F4F4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7477092"/>
            <a:ext cx="5028248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Future Enhancements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050146" y="1286922"/>
            <a:ext cx="1616890" cy="161689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0907826" y="1855973"/>
            <a:ext cx="5738627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800" b="tru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Multi-modal analysis (X-ray, MRI)</a:t>
            </a:r>
          </a:p>
        </p:txBody>
      </p:sp>
      <p:sp>
        <p:nvSpPr>
          <p:cNvPr name="AutoShape 6" id="6"/>
          <p:cNvSpPr/>
          <p:nvPr/>
        </p:nvSpPr>
        <p:spPr>
          <a:xfrm rot="0">
            <a:off x="8531153" y="3975056"/>
            <a:ext cx="8728147" cy="2336888"/>
          </a:xfrm>
          <a:prstGeom prst="rect">
            <a:avLst/>
          </a:prstGeom>
          <a:solidFill>
            <a:srgbClr val="F4F4F4"/>
          </a:solidFill>
        </p:spPr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050146" y="4335055"/>
            <a:ext cx="1616890" cy="161689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0907826" y="4904105"/>
            <a:ext cx="5263775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800" b="tru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Advanc</a:t>
            </a:r>
            <a:r>
              <a:rPr lang="en-US" b="true" sz="2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ed analytics dashboard</a:t>
            </a:r>
          </a:p>
        </p:txBody>
      </p:sp>
      <p:sp>
        <p:nvSpPr>
          <p:cNvPr name="AutoShape 9" id="9"/>
          <p:cNvSpPr/>
          <p:nvPr/>
        </p:nvSpPr>
        <p:spPr>
          <a:xfrm rot="0">
            <a:off x="8531153" y="7023188"/>
            <a:ext cx="8728147" cy="2336888"/>
          </a:xfrm>
          <a:prstGeom prst="rect">
            <a:avLst/>
          </a:prstGeom>
          <a:solidFill>
            <a:srgbClr val="F4F4F4"/>
          </a:solidFill>
        </p:spPr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050146" y="7386878"/>
            <a:ext cx="1616890" cy="161689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0907826" y="7950244"/>
            <a:ext cx="5954468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800" b="tru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AI chatbot with Grad-Cam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49376" y="9671452"/>
            <a:ext cx="1763554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Thank You!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1475064" y="-538262"/>
            <a:ext cx="9521018" cy="7235974"/>
          </a:xfrm>
          <a:custGeom>
            <a:avLst/>
            <a:gdLst/>
            <a:ahLst/>
            <a:cxnLst/>
            <a:rect r="r" b="b" t="t" l="l"/>
            <a:pathLst>
              <a:path h="7235974" w="9521018">
                <a:moveTo>
                  <a:pt x="0" y="0"/>
                </a:moveTo>
                <a:lnTo>
                  <a:pt x="9521018" y="0"/>
                </a:lnTo>
                <a:lnTo>
                  <a:pt x="9521018" y="7235973"/>
                </a:lnTo>
                <a:lnTo>
                  <a:pt x="0" y="72359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DAGvZA3lmGo</dc:identifier>
  <dcterms:modified xsi:type="dcterms:W3CDTF">2011-08-01T06:04:30Z</dcterms:modified>
  <cp:revision>1</cp:revision>
  <dc:title>Strategy Deck Business Presentation in Purple White Modular Abstract Style</dc:title>
</cp:coreProperties>
</file>